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9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9EC4"/>
                </a:solidFill>
                <a:latin typeface="Calibri"/>
              </a:rPr>
              <a:t>CAPSTONE DATA ENGINEERING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Crater — Restart-Safe Talent-Intelligence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77295" y="329184"/>
            <a:ext cx="502920" cy="411480"/>
          </a:xfrm>
          <a:prstGeom prst="rect">
            <a:avLst/>
          </a:prstGeom>
          <a:solidFill>
            <a:srgbClr val="163355"/>
          </a:solidFill>
          <a:ln w="12700">
            <a:solidFill>
              <a:srgbClr val="1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39E"/>
                </a:solidFill>
                <a:latin typeface="Calibri"/>
              </a:rPr>
              <a:t>CRATER  |  GitHub Event Intelligence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029200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39B36"/>
                </a:solidFill>
                <a:latin typeface="Calibri"/>
              </a:rPr>
              <a:t>PROBLEM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3A424D"/>
                </a:solidFill>
                <a:latin typeface="Calibri"/>
              </a:rPr>
              <a:t>GitHub Archive publishes raw event activity as hourly gzipped JSONL dumps with heterogeneous, evolving schemas. Recruiter-style analysis (language expertise, true authorship, collaboration networks) requires this firehose turned into a clean, queryable relational model — continuously, and without losing or duplicating data when the feed or the process fails.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94760"/>
            <a:ext cx="5029200" cy="2606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39B36"/>
                </a:solidFill>
                <a:latin typeface="Calibri"/>
              </a:rPr>
              <a:t>WHAT THE SYSTEM DOES</a:t>
            </a:r>
          </a:p>
          <a:p>
            <a:pPr marL="177800" indent="-177800" algn="l">
              <a:lnSpc>
                <a:spcPct val="110000"/>
              </a:lnSpc>
              <a:spcAft>
                <a:spcPts val="700"/>
              </a:spcAft>
              <a:buFont typeface="Calibri"/>
              <a:buChar char="•"/>
            </a:pPr>
            <a:r>
              <a:rPr sz="1250" b="0" i="0">
                <a:solidFill>
                  <a:srgbClr val="3A424D"/>
                </a:solidFill>
                <a:latin typeface="Calibri"/>
              </a:rPr>
              <a:t>Continuously ingests hourly GH Archive files from a vendor API</a:t>
            </a:r>
          </a:p>
          <a:p>
            <a:pPr marL="177800" indent="-177800" algn="l">
              <a:lnSpc>
                <a:spcPct val="110000"/>
              </a:lnSpc>
              <a:spcAft>
                <a:spcPts val="700"/>
              </a:spcAft>
              <a:buFont typeface="Calibri"/>
              <a:buChar char="•"/>
            </a:pPr>
            <a:r>
              <a:rPr sz="1250" b="0" i="0">
                <a:solidFill>
                  <a:srgbClr val="3A424D"/>
                </a:solidFill>
                <a:latin typeface="Calibri"/>
              </a:rPr>
              <a:t>Normalizes 9+ GitHub event types into one relational schema</a:t>
            </a:r>
          </a:p>
          <a:p>
            <a:pPr marL="177800" indent="-177800" algn="l">
              <a:lnSpc>
                <a:spcPct val="110000"/>
              </a:lnSpc>
              <a:spcAft>
                <a:spcPts val="700"/>
              </a:spcAft>
              <a:buFont typeface="Calibri"/>
              <a:buChar char="•"/>
            </a:pPr>
            <a:r>
              <a:rPr sz="1250" b="0" i="0">
                <a:solidFill>
                  <a:srgbClr val="3A424D"/>
                </a:solidFill>
                <a:latin typeface="Calibri"/>
              </a:rPr>
              <a:t>Survives outages, truncated files, schema drift unattended</a:t>
            </a:r>
          </a:p>
          <a:p>
            <a:pPr marL="177800" indent="-177800" algn="l">
              <a:lnSpc>
                <a:spcPct val="110000"/>
              </a:lnSpc>
              <a:spcAft>
                <a:spcPts val="700"/>
              </a:spcAft>
              <a:buFont typeface="Calibri"/>
              <a:buChar char="•"/>
            </a:pPr>
            <a:r>
              <a:rPr sz="1250" b="0" i="0">
                <a:solidFill>
                  <a:srgbClr val="3A424D"/>
                </a:solidFill>
                <a:latin typeface="Calibri"/>
              </a:rPr>
              <a:t>Feeds 5 analyst SQL queries for technical talent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325880"/>
            <a:ext cx="5760720" cy="507492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2200" y="146304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0243E"/>
                </a:solidFill>
                <a:latin typeface="Calibri"/>
              </a:rPr>
              <a:t>HIGH-LEVEL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74519"/>
            <a:ext cx="5120640" cy="685800"/>
          </a:xfrm>
          <a:prstGeom prst="rect">
            <a:avLst/>
          </a:prstGeom>
          <a:solidFill>
            <a:srgbClr val="10243E"/>
          </a:solidFill>
          <a:ln w="9525">
            <a:solidFill>
              <a:srgbClr val="1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Simulated Vendor API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CFE3EC"/>
                </a:solidFill>
                <a:latin typeface="Calibri"/>
              </a:rPr>
              <a:t>Hourly gzip JSONL · chaos modes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23960" y="2560319"/>
            <a:ext cx="0" cy="320040"/>
          </a:xfrm>
          <a:prstGeom prst="line">
            <a:avLst/>
          </a:prstGeom>
          <a:ln w="25400">
            <a:solidFill>
              <a:srgbClr val="147A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263640" y="2880359"/>
            <a:ext cx="5120640" cy="685800"/>
          </a:xfrm>
          <a:prstGeom prst="rect">
            <a:avLst/>
          </a:prstGeom>
          <a:solidFill>
            <a:srgbClr val="147A99"/>
          </a:solidFill>
          <a:ln w="9525">
            <a:solidFill>
              <a:srgbClr val="1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Crater Pipeline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CFE3EC"/>
                </a:solidFill>
                <a:latin typeface="Calibri"/>
              </a:rPr>
              <a:t>Poll → Fetch → Ingest → Normalize → Write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23960" y="3566159"/>
            <a:ext cx="0" cy="320040"/>
          </a:xfrm>
          <a:prstGeom prst="line">
            <a:avLst/>
          </a:prstGeom>
          <a:ln w="25400">
            <a:solidFill>
              <a:srgbClr val="147A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263640" y="3886199"/>
            <a:ext cx="2423160" cy="685800"/>
          </a:xfrm>
          <a:prstGeom prst="rect">
            <a:avLst/>
          </a:prstGeom>
          <a:solidFill>
            <a:srgbClr val="10243E"/>
          </a:solidFill>
          <a:ln w="9525">
            <a:solidFill>
              <a:srgbClr val="1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PostgreSQL 16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CFE3EC"/>
                </a:solidFill>
                <a:latin typeface="Calibri"/>
              </a:rPr>
              <a:t>5 normalized tables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3886199"/>
            <a:ext cx="2423160" cy="685800"/>
          </a:xfrm>
          <a:prstGeom prst="rect">
            <a:avLst/>
          </a:prstGeom>
          <a:solidFill>
            <a:srgbClr val="10243E"/>
          </a:solidFill>
          <a:ln w="9525">
            <a:solidFill>
              <a:srgbClr val="1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Redis 7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CFE3EC"/>
                </a:solidFill>
                <a:latin typeface="Calibri"/>
              </a:rPr>
              <a:t>Restart watermark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23960" y="4571999"/>
            <a:ext cx="0" cy="320040"/>
          </a:xfrm>
          <a:prstGeom prst="line">
            <a:avLst/>
          </a:prstGeom>
          <a:ln w="25400">
            <a:solidFill>
              <a:srgbClr val="147A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263640" y="4892039"/>
            <a:ext cx="5120640" cy="685800"/>
          </a:xfrm>
          <a:prstGeom prst="rect">
            <a:avLst/>
          </a:prstGeom>
          <a:solidFill>
            <a:srgbClr val="E39B36"/>
          </a:solidFill>
          <a:ln w="9525">
            <a:solidFill>
              <a:srgbClr val="1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 Analyst SQL Queries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CFE3EC"/>
                </a:solidFill>
                <a:latin typeface="Calibri"/>
              </a:rPr>
              <a:t>Language fit · authorship · network · funnel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9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9EC4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Six Single-Responsibility Stages, One Coordinator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77295" y="329184"/>
            <a:ext cx="502920" cy="411480"/>
          </a:xfrm>
          <a:prstGeom prst="rect">
            <a:avLst/>
          </a:prstGeom>
          <a:solidFill>
            <a:srgbClr val="163355"/>
          </a:solidFill>
          <a:ln w="12700">
            <a:solidFill>
              <a:srgbClr val="1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39E"/>
                </a:solidFill>
                <a:latin typeface="Calibri"/>
              </a:rPr>
              <a:t>CRATER  |  GitHub Event Intelligence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727149" cy="1051560"/>
          </a:xfrm>
          <a:prstGeom prst="rect">
            <a:avLst/>
          </a:prstGeom>
          <a:solidFill>
            <a:srgbClr val="147A99"/>
          </a:solidFill>
          <a:ln w="9525">
            <a:solidFill>
              <a:srgbClr val="1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1. Poller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8E9EF"/>
                </a:solidFill>
                <a:latin typeface="Calibri"/>
              </a:rPr>
              <a:t>Reads Redis watermark,</a:t>
            </a:r>
            <a:br/>
            <a:r>
              <a:rPr sz="900" b="0" i="0">
                <a:solidFill>
                  <a:srgbClr val="D8E9EF"/>
                </a:solidFill>
                <a:latin typeface="Calibri"/>
              </a:rPr>
              <a:t>computes next hour due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30069" y="1943100"/>
            <a:ext cx="164592" cy="0"/>
          </a:xfrm>
          <a:prstGeom prst="line">
            <a:avLst/>
          </a:prstGeom>
          <a:ln w="28575">
            <a:solidFill>
              <a:srgbClr val="E39B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94661" y="1417320"/>
            <a:ext cx="1727149" cy="1051560"/>
          </a:xfrm>
          <a:prstGeom prst="rect">
            <a:avLst/>
          </a:prstGeom>
          <a:solidFill>
            <a:srgbClr val="163355"/>
          </a:solidFill>
          <a:ln w="9525">
            <a:solidFill>
              <a:srgbClr val="1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2. Fetcher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8E9EF"/>
                </a:solidFill>
                <a:latin typeface="Calibri"/>
              </a:rPr>
              <a:t>HTTP GET + retry state</a:t>
            </a:r>
            <a:br/>
            <a:r>
              <a:rPr sz="900" b="0" i="0">
                <a:solidFill>
                  <a:srgbClr val="D8E9EF"/>
                </a:solidFill>
                <a:latin typeface="Calibri"/>
              </a:rPr>
              <a:t>machine (404/503/trunc)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21810" y="1943100"/>
            <a:ext cx="164592" cy="0"/>
          </a:xfrm>
          <a:prstGeom prst="line">
            <a:avLst/>
          </a:prstGeom>
          <a:ln w="28575">
            <a:solidFill>
              <a:srgbClr val="E39B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286402" y="1417320"/>
            <a:ext cx="1727149" cy="1051560"/>
          </a:xfrm>
          <a:prstGeom prst="rect">
            <a:avLst/>
          </a:prstGeom>
          <a:solidFill>
            <a:srgbClr val="147A99"/>
          </a:solidFill>
          <a:ln w="9525">
            <a:solidFill>
              <a:srgbClr val="1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3. Ingestor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8E9EF"/>
                </a:solidFill>
                <a:latin typeface="Calibri"/>
              </a:rPr>
              <a:t>Streams gzip → JSONL,</a:t>
            </a:r>
            <a:br/>
            <a:r>
              <a:rPr sz="900" b="0" i="0">
                <a:solidFill>
                  <a:srgbClr val="D8E9EF"/>
                </a:solidFill>
                <a:latin typeface="Calibri"/>
              </a:rPr>
              <a:t>validates each line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13551" y="1943100"/>
            <a:ext cx="164592" cy="0"/>
          </a:xfrm>
          <a:prstGeom prst="line">
            <a:avLst/>
          </a:prstGeom>
          <a:ln w="28575">
            <a:solidFill>
              <a:srgbClr val="E39B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178143" y="1417320"/>
            <a:ext cx="1727149" cy="1051560"/>
          </a:xfrm>
          <a:prstGeom prst="rect">
            <a:avLst/>
          </a:prstGeom>
          <a:solidFill>
            <a:srgbClr val="163355"/>
          </a:solidFill>
          <a:ln w="9525">
            <a:solidFill>
              <a:srgbClr val="1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4. Normalizer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8E9EF"/>
                </a:solidFill>
                <a:latin typeface="Calibri"/>
              </a:rPr>
              <a:t>Strategy-pattern registry,</a:t>
            </a:r>
            <a:br/>
            <a:r>
              <a:rPr sz="900" b="0" i="0">
                <a:solidFill>
                  <a:srgbClr val="D8E9EF"/>
                </a:solidFill>
                <a:latin typeface="Calibri"/>
              </a:rPr>
              <a:t>9 event types + fallback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05292" y="1943100"/>
            <a:ext cx="164592" cy="0"/>
          </a:xfrm>
          <a:prstGeom prst="line">
            <a:avLst/>
          </a:prstGeom>
          <a:ln w="28575">
            <a:solidFill>
              <a:srgbClr val="E39B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069884" y="1417320"/>
            <a:ext cx="1727149" cy="1051560"/>
          </a:xfrm>
          <a:prstGeom prst="rect">
            <a:avLst/>
          </a:prstGeom>
          <a:solidFill>
            <a:srgbClr val="147A99"/>
          </a:solidFill>
          <a:ln w="9525">
            <a:solidFill>
              <a:srgbClr val="1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5. Writer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8E9EF"/>
                </a:solidFill>
                <a:latin typeface="Calibri"/>
              </a:rPr>
              <a:t>Buffers batch, bulk</a:t>
            </a:r>
            <a:br/>
            <a:r>
              <a:rPr sz="900" b="0" i="0">
                <a:solidFill>
                  <a:srgbClr val="D8E9EF"/>
                </a:solidFill>
                <a:latin typeface="Calibri"/>
              </a:rPr>
              <a:t>COPY to PostgreSQL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97033" y="1943100"/>
            <a:ext cx="164592" cy="0"/>
          </a:xfrm>
          <a:prstGeom prst="line">
            <a:avLst/>
          </a:prstGeom>
          <a:ln w="28575">
            <a:solidFill>
              <a:srgbClr val="E39B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961625" y="1417320"/>
            <a:ext cx="1727149" cy="1051560"/>
          </a:xfrm>
          <a:prstGeom prst="rect">
            <a:avLst/>
          </a:prstGeom>
          <a:solidFill>
            <a:srgbClr val="163355"/>
          </a:solidFill>
          <a:ln w="9525">
            <a:solidFill>
              <a:srgbClr val="1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6. Watermark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8E9EF"/>
                </a:solidFill>
                <a:latin typeface="Calibri"/>
              </a:rPr>
              <a:t>Atomic CAS advance</a:t>
            </a:r>
            <a:br/>
            <a:r>
              <a:rPr sz="900" b="0" i="0">
                <a:solidFill>
                  <a:srgbClr val="D8E9EF"/>
                </a:solidFill>
                <a:latin typeface="Calibri"/>
              </a:rPr>
              <a:t>in Redis (Lua script)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88920"/>
            <a:ext cx="11185855" cy="50292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0243E"/>
                </a:solidFill>
                <a:latin typeface="Calibri"/>
              </a:rPr>
              <a:t>PipelineCoordinator  —  drives the loop above to completion, owns shutdown/backoff, and injects Postgres + Redis as external dependencies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566160"/>
            <a:ext cx="5410047" cy="233172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3566160"/>
            <a:ext cx="50800" cy="2331720"/>
          </a:xfrm>
          <a:prstGeom prst="rect">
            <a:avLst/>
          </a:prstGeom>
          <a:solidFill>
            <a:srgbClr val="1F9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" y="3657600"/>
            <a:ext cx="5135727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0243E"/>
                </a:solidFill>
                <a:latin typeface="Calibri"/>
              </a:rPr>
              <a:t>Component Responsibilities</a:t>
            </a: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50" b="0" i="0">
                <a:solidFill>
                  <a:srgbClr val="3A424D"/>
                </a:solidFill>
                <a:latin typeface="Calibri"/>
              </a:rPr>
              <a:t>Each stage owns exactly one concern: scheduling, transport, parsing, mapping, or persistence</a:t>
            </a: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50" b="0" i="0">
                <a:solidFill>
                  <a:srgbClr val="3A424D"/>
                </a:solidFill>
                <a:latin typeface="Calibri"/>
              </a:rPr>
              <a:t>Stages communicate through typed objects (RawEvent, NormalizationResult) — no shared mutable state</a:t>
            </a: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50" b="0" i="0">
                <a:solidFill>
                  <a:srgbClr val="3A424D"/>
                </a:solidFill>
                <a:latin typeface="Calibri"/>
              </a:rPr>
              <a:t>Postgres and Redis are injected, not constructed internally — infrastructure is swappable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8727" y="3566160"/>
            <a:ext cx="5410047" cy="233172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78727" y="3566160"/>
            <a:ext cx="50800" cy="2331720"/>
          </a:xfrm>
          <a:prstGeom prst="rect">
            <a:avLst/>
          </a:prstGeom>
          <a:solidFill>
            <a:srgbClr val="E39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3319" y="3657600"/>
            <a:ext cx="5135727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0243E"/>
                </a:solidFill>
                <a:latin typeface="Calibri"/>
              </a:rPr>
              <a:t>Why This Shape</a:t>
            </a: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50" b="0" i="0">
                <a:solidFill>
                  <a:srgbClr val="3A424D"/>
                </a:solidFill>
                <a:latin typeface="Calibri"/>
              </a:rPr>
              <a:t>High cohesion per stage, loose coupling between stages — each is independently unit-testable</a:t>
            </a: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50" b="0" i="0">
                <a:solidFill>
                  <a:srgbClr val="3A424D"/>
                </a:solidFill>
                <a:latin typeface="Calibri"/>
              </a:rPr>
              <a:t>Mirrors classic pipeline architecture: linear, composable, easy to reason about under failure</a:t>
            </a: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50" b="0" i="0">
                <a:solidFill>
                  <a:srgbClr val="3A424D"/>
                </a:solidFill>
                <a:latin typeface="Calibri"/>
              </a:rPr>
              <a:t>New capability (e.g. a new sink) extends the chain without rewriting existing stages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9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9EC4"/>
                </a:solidFill>
                <a:latin typeface="Calibri"/>
              </a:rPr>
              <a:t>DATA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From Raw Event Stream to Query-Optimized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77295" y="329184"/>
            <a:ext cx="502920" cy="411480"/>
          </a:xfrm>
          <a:prstGeom prst="rect">
            <a:avLst/>
          </a:prstGeom>
          <a:solidFill>
            <a:srgbClr val="163355"/>
          </a:solidFill>
          <a:ln w="12700">
            <a:solidFill>
              <a:srgbClr val="1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3/6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39E"/>
                </a:solidFill>
                <a:latin typeface="Calibri"/>
              </a:rPr>
              <a:t>CRATER  |  GitHub Event Intelligence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486400" cy="1874519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50800" cy="1874519"/>
          </a:xfrm>
          <a:prstGeom prst="rect">
            <a:avLst/>
          </a:prstGeom>
          <a:solidFill>
            <a:srgbClr val="1F9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417320"/>
            <a:ext cx="5212080" cy="1691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0243E"/>
                </a:solidFill>
                <a:latin typeface="Calibri"/>
              </a:rPr>
              <a:t>Data Flow &amp; Normalization</a:t>
            </a: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00" b="0" i="0">
                <a:solidFill>
                  <a:srgbClr val="3A424D"/>
                </a:solidFill>
                <a:latin typeface="Calibri"/>
              </a:rPr>
              <a:t>Gzip JSONL → RawEvent (Pydantic-validated, tolerant of schema drift)</a:t>
            </a: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00" b="0" i="0">
                <a:solidFill>
                  <a:srgbClr val="3A424D"/>
                </a:solidFill>
                <a:latin typeface="Calibri"/>
              </a:rPr>
              <a:t>RawEvent → NormalizedEvent via per-type Strategy: one normalizer class per GitHub event type, dispatched through a registry</a:t>
            </a: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00" b="0" i="0">
                <a:solidFill>
                  <a:srgbClr val="3A424D"/>
                </a:solidFill>
                <a:latin typeface="Calibri"/>
              </a:rPr>
              <a:t>Unmapped types fall back to UnknownEventNormalizer — zero data loss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37560"/>
            <a:ext cx="5486400" cy="164592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337560"/>
            <a:ext cx="50800" cy="1645920"/>
          </a:xfrm>
          <a:prstGeom prst="rect">
            <a:avLst/>
          </a:prstGeom>
          <a:solidFill>
            <a:srgbClr val="1F9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3429000"/>
            <a:ext cx="52120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0243E"/>
                </a:solidFill>
                <a:latin typeface="Calibri"/>
              </a:rPr>
              <a:t>Processing Strategy</a:t>
            </a: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00" b="0" i="0">
                <a:solidFill>
                  <a:srgbClr val="3A424D"/>
                </a:solidFill>
                <a:latin typeface="Calibri"/>
              </a:rPr>
              <a:t>Incremental, hour-by-hour batches — not full-history reprocessing</a:t>
            </a: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00" b="0" i="0">
                <a:solidFill>
                  <a:srgbClr val="3A424D"/>
                </a:solidFill>
                <a:latin typeface="Calibri"/>
              </a:rPr>
              <a:t>Streamed gzip decompression with buffered batch writes — bounded memory per file</a:t>
            </a: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00" b="0" i="0">
                <a:solidFill>
                  <a:srgbClr val="3A424D"/>
                </a:solidFill>
                <a:latin typeface="Calibri"/>
              </a:rPr>
              <a:t>Watermark-driven scheduling paced to the source's own clock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120640"/>
            <a:ext cx="5486400" cy="128016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5120640"/>
            <a:ext cx="50800" cy="1280160"/>
          </a:xfrm>
          <a:prstGeom prst="rect">
            <a:avLst/>
          </a:prstGeom>
          <a:solidFill>
            <a:srgbClr val="E39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" y="5212080"/>
            <a:ext cx="5212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0243E"/>
                </a:solidFill>
                <a:latin typeface="Calibri"/>
              </a:rPr>
              <a:t>Critical Domain Invariant</a:t>
            </a: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00" b="0" i="0">
                <a:solidFill>
                  <a:srgbClr val="3A424D"/>
                </a:solidFill>
                <a:latin typeface="Calibri"/>
              </a:rPr>
              <a:t>PullRequestEvent.actor is the closer/merger, not the author — author is extracted explicitly from the nested payload</a:t>
            </a: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00" b="0" i="0">
                <a:solidFill>
                  <a:srgbClr val="3A424D"/>
                </a:solidFill>
                <a:latin typeface="Calibri"/>
              </a:rPr>
              <a:t>Encoded once in the normalizer, correct everywhere downstream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325880"/>
            <a:ext cx="5333695" cy="507492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1463040"/>
            <a:ext cx="4876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0243E"/>
                </a:solidFill>
                <a:latin typeface="Calibri"/>
              </a:rPr>
              <a:t>STORAGE — POSTGRESQL 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1920240"/>
            <a:ext cx="4785055" cy="667512"/>
          </a:xfrm>
          <a:prstGeom prst="rect">
            <a:avLst/>
          </a:prstGeom>
          <a:solidFill>
            <a:srgbClr val="163355"/>
          </a:solidFill>
          <a:ln w="6350">
            <a:solidFill>
              <a:srgbClr val="1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25400" rtlCol="0" anchor="ctr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events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D8E9EF"/>
                </a:solidFill>
                <a:latin typeface="Calibri"/>
              </a:rPr>
              <a:t>Canonical record per GitHub event · PK event_id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2697480"/>
            <a:ext cx="4785055" cy="667512"/>
          </a:xfrm>
          <a:prstGeom prst="rect">
            <a:avLst/>
          </a:prstGeom>
          <a:solidFill>
            <a:srgbClr val="163355"/>
          </a:solidFill>
          <a:ln w="6350">
            <a:solidFill>
              <a:srgbClr val="1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25400" rtlCol="0" anchor="ctr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push_commits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D8E9EF"/>
                </a:solidFill>
                <a:latin typeface="Calibri"/>
              </a:rPr>
              <a:t>Per-commit detail extracted from PushEvent payloads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3474720"/>
            <a:ext cx="4785055" cy="667512"/>
          </a:xfrm>
          <a:prstGeom prst="rect">
            <a:avLst/>
          </a:prstGeom>
          <a:solidFill>
            <a:srgbClr val="163355"/>
          </a:solidFill>
          <a:ln w="6350">
            <a:solidFill>
              <a:srgbClr val="1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25400" rtlCol="0" anchor="ctr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actor_repo_contributions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D8E9EF"/>
                </a:solidFill>
                <a:latin typeface="Calibri"/>
              </a:rPr>
              <a:t>Pre-materialized actor↔repo graph — powers collaboration queries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4251960"/>
            <a:ext cx="4785055" cy="667512"/>
          </a:xfrm>
          <a:prstGeom prst="rect">
            <a:avLst/>
          </a:prstGeom>
          <a:solidFill>
            <a:srgbClr val="163355"/>
          </a:solidFill>
          <a:ln w="6350">
            <a:solidFill>
              <a:srgbClr val="1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25400" rtlCol="0" anchor="ctr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funnel_events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D8E9EF"/>
                </a:solidFill>
                <a:latin typeface="Calibri"/>
              </a:rPr>
              <a:t>Pre-filtered Watch/Fork/PR rows — powers conversion-funnel query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0" y="5029200"/>
            <a:ext cx="4785055" cy="667512"/>
          </a:xfrm>
          <a:prstGeom prst="rect">
            <a:avLst/>
          </a:prstGeom>
          <a:solidFill>
            <a:srgbClr val="163355"/>
          </a:solidFill>
          <a:ln w="6350">
            <a:solidFill>
              <a:srgbClr val="1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25400" rtlCol="0" anchor="ctr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pipeline_files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D8E9EF"/>
                </a:solidFill>
                <a:latin typeface="Calibri"/>
              </a:rPr>
              <a:t>File-level ingestion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852160"/>
            <a:ext cx="47850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50" b="0" i="1">
                <a:solidFill>
                  <a:srgbClr val="3A424D"/>
                </a:solidFill>
                <a:latin typeface="Calibri"/>
              </a:rPr>
              <a:t>ON CONFLICT DO NOTHING on natural keys (event_id; actor+repo+type) makes every insert idempotent on replay.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9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9EC4"/>
                </a:solidFill>
                <a:latin typeface="Calibri"/>
              </a:rPr>
              <a:t>KEY ARCHITECTURAL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Four Decisions That Shape the System's Behavior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77295" y="329184"/>
            <a:ext cx="502920" cy="411480"/>
          </a:xfrm>
          <a:prstGeom prst="rect">
            <a:avLst/>
          </a:prstGeom>
          <a:solidFill>
            <a:srgbClr val="163355"/>
          </a:solidFill>
          <a:ln w="12700">
            <a:solidFill>
              <a:srgbClr val="1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4/6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39E"/>
                </a:solidFill>
                <a:latin typeface="Calibri"/>
              </a:rPr>
              <a:t>CRATER  |  GitHub Event Intelligence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455767" cy="233172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50800" cy="2331720"/>
          </a:xfrm>
          <a:prstGeom prst="rect">
            <a:avLst/>
          </a:prstGeom>
          <a:solidFill>
            <a:srgbClr val="1F9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80" y="1444752"/>
            <a:ext cx="329184" cy="329184"/>
          </a:xfrm>
          <a:prstGeom prst="ellipse">
            <a:avLst/>
          </a:prstGeom>
          <a:solidFill>
            <a:srgbClr val="1F9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1453896"/>
            <a:ext cx="46785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0243E"/>
                </a:solidFill>
                <a:latin typeface="Calibri"/>
              </a:rPr>
              <a:t>Strategy-pattern event normalizers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92808"/>
            <a:ext cx="5044287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A424D"/>
                </a:solidFill>
                <a:latin typeface="Calibri"/>
              </a:rPr>
              <a:t>Problem: 9+ GitHub event types with divergent, evolving payload shapes.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A424D"/>
                </a:solidFill>
                <a:latin typeface="Calibri"/>
              </a:rPr>
              <a:t>Choice: one normalizer class per type behind a common interface, dispatched by a registry; unknown types fall back instead of failing.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147A99"/>
                </a:solidFill>
                <a:latin typeface="Calibri"/>
              </a:rPr>
              <a:t>Benefit: new event types are added without touching pipeline code — open/closed, zero data loss.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325880"/>
            <a:ext cx="5455767" cy="233172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3007" y="1325880"/>
            <a:ext cx="50800" cy="2331720"/>
          </a:xfrm>
          <a:prstGeom prst="rect">
            <a:avLst/>
          </a:prstGeom>
          <a:solidFill>
            <a:srgbClr val="E39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70167" y="1444752"/>
            <a:ext cx="329184" cy="329184"/>
          </a:xfrm>
          <a:prstGeom prst="ellipse">
            <a:avLst/>
          </a:prstGeom>
          <a:solidFill>
            <a:srgbClr val="E39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9935" y="1453896"/>
            <a:ext cx="46785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0243E"/>
                </a:solidFill>
                <a:latin typeface="Calibri"/>
              </a:rPr>
              <a:t>COPY FROM STDIN bulk loading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1892808"/>
            <a:ext cx="5044287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A424D"/>
                </a:solidFill>
                <a:latin typeface="Calibri"/>
              </a:rPr>
              <a:t>Problem: ~34M events must be ingested at sustained throughput (target 113k rows/sec).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A424D"/>
                </a:solidFill>
                <a:latin typeface="Calibri"/>
              </a:rPr>
              <a:t>Choice: psycopg3 COPY (150k–250k rows/sec) over row-by-row INSERT; falls back to batched INSERT only when COPY is unavailable.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147A99"/>
                </a:solidFill>
                <a:latin typeface="Calibri"/>
              </a:rPr>
              <a:t>Benefit: meets the throughput target with headroom, trading per-row error feedback for raw write speed.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86200"/>
            <a:ext cx="5455767" cy="233172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886200"/>
            <a:ext cx="50800" cy="2331720"/>
          </a:xfrm>
          <a:prstGeom prst="rect">
            <a:avLst/>
          </a:prstGeom>
          <a:solidFill>
            <a:srgbClr val="1F9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0080" y="4005072"/>
            <a:ext cx="329184" cy="329184"/>
          </a:xfrm>
          <a:prstGeom prst="ellipse">
            <a:avLst/>
          </a:prstGeom>
          <a:solidFill>
            <a:srgbClr val="1F9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014216"/>
            <a:ext cx="46785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0243E"/>
                </a:solidFill>
                <a:latin typeface="Calibri"/>
              </a:rPr>
              <a:t>Redis watermark with atomic CAS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53128"/>
            <a:ext cx="5044287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A424D"/>
                </a:solidFill>
                <a:latin typeface="Calibri"/>
              </a:rPr>
              <a:t>Problem: process can crash mid-file; restart must not skip or double-count hours.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A424D"/>
                </a:solidFill>
                <a:latin typeface="Calibri"/>
              </a:rPr>
              <a:t>Choice: lightweight Redis hash advanced via a Lua compare-and-set, decoupled from the Postgres transaction.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147A99"/>
                </a:solidFill>
                <a:latin typeface="Calibri"/>
              </a:rPr>
              <a:t>Benefit: crash-safe resume — idempotent DB writes plus the watermark make replay of a partial hour safe.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3886200"/>
            <a:ext cx="5455767" cy="233172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33007" y="3886200"/>
            <a:ext cx="50800" cy="2331720"/>
          </a:xfrm>
          <a:prstGeom prst="rect">
            <a:avLst/>
          </a:prstGeom>
          <a:solidFill>
            <a:srgbClr val="E39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70167" y="4005072"/>
            <a:ext cx="329184" cy="329184"/>
          </a:xfrm>
          <a:prstGeom prst="ellipse">
            <a:avLst/>
          </a:prstGeom>
          <a:solidFill>
            <a:srgbClr val="E39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9935" y="4014216"/>
            <a:ext cx="46785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0243E"/>
                </a:solidFill>
                <a:latin typeface="Calibri"/>
              </a:rPr>
              <a:t>Pre-materialized contribution &amp; funnel tables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1607" y="4453128"/>
            <a:ext cx="5044287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 dirty="0">
                <a:solidFill>
                  <a:srgbClr val="3A424D"/>
                </a:solidFill>
                <a:latin typeface="Calibri"/>
              </a:rPr>
              <a:t>Problem: collaboration-graph and conversion-funnel queries need multi-way joins over 34M rows.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 dirty="0">
                <a:solidFill>
                  <a:srgbClr val="3A424D"/>
                </a:solidFill>
                <a:latin typeface="Calibri"/>
              </a:rPr>
              <a:t>Choice: derive </a:t>
            </a:r>
            <a:r>
              <a:rPr sz="1050" b="0" i="0" dirty="0" err="1">
                <a:solidFill>
                  <a:srgbClr val="3A424D"/>
                </a:solidFill>
                <a:latin typeface="Calibri"/>
              </a:rPr>
              <a:t>actor_repo_contributions</a:t>
            </a:r>
            <a:r>
              <a:rPr sz="1050" b="0" i="0" dirty="0">
                <a:solidFill>
                  <a:srgbClr val="3A424D"/>
                </a:solidFill>
                <a:latin typeface="Calibri"/>
              </a:rPr>
              <a:t> and </a:t>
            </a:r>
            <a:r>
              <a:rPr sz="1050" b="0" i="0" dirty="0" err="1">
                <a:solidFill>
                  <a:srgbClr val="3A424D"/>
                </a:solidFill>
                <a:latin typeface="Calibri"/>
              </a:rPr>
              <a:t>funnel_events</a:t>
            </a:r>
            <a:r>
              <a:rPr sz="1050" b="0" i="0" dirty="0">
                <a:solidFill>
                  <a:srgbClr val="3A424D"/>
                </a:solidFill>
                <a:latin typeface="Calibri"/>
              </a:rPr>
              <a:t> at write time instead of join time.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 i="0" dirty="0">
                <a:solidFill>
                  <a:srgbClr val="147A99"/>
                </a:solidFill>
                <a:latin typeface="Calibri"/>
              </a:rPr>
              <a:t>Benefit: trades write-time cost and storage for query-time performance — analyst queries stay interactive.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9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9EC4"/>
                </a:solidFill>
                <a:latin typeface="Calibri"/>
              </a:rPr>
              <a:t>SCALABILITY &amp;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Built for Sustained Load and Graceful Degradation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77295" y="329184"/>
            <a:ext cx="502920" cy="411480"/>
          </a:xfrm>
          <a:prstGeom prst="rect">
            <a:avLst/>
          </a:prstGeom>
          <a:solidFill>
            <a:srgbClr val="163355"/>
          </a:solidFill>
          <a:ln w="12700">
            <a:solidFill>
              <a:srgbClr val="1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5/6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39E"/>
                </a:solidFill>
                <a:latin typeface="Calibri"/>
              </a:rPr>
              <a:t>CRATER  |  GitHub Event Intelligence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410047" cy="219456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50800" cy="2194560"/>
          </a:xfrm>
          <a:prstGeom prst="rect">
            <a:avLst/>
          </a:prstGeom>
          <a:solidFill>
            <a:srgbClr val="1F9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417320"/>
            <a:ext cx="5135727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0243E"/>
                </a:solidFill>
                <a:latin typeface="Calibri"/>
              </a:rPr>
              <a:t>Performance</a:t>
            </a: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50" b="0" i="0">
                <a:solidFill>
                  <a:srgbClr val="3A424D"/>
                </a:solidFill>
                <a:latin typeface="Calibri"/>
              </a:rPr>
              <a:t>COPY FROM STDIN sustains 150k–250k rows/sec, well above the 113k rows/sec target for the 34M-event replay window</a:t>
            </a: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50" b="0" i="0">
                <a:solidFill>
                  <a:srgbClr val="3A424D"/>
                </a:solidFill>
                <a:latin typeface="Calibri"/>
              </a:rPr>
              <a:t>Streaming gzip decompression avoids materializing whole files in memory</a:t>
            </a: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50" b="0" i="0">
                <a:solidFill>
                  <a:srgbClr val="3A424D"/>
                </a:solidFill>
                <a:latin typeface="Calibri"/>
              </a:rPr>
              <a:t>Pre-materialized graph tables remove expensive joins from the query-time critical 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03320"/>
            <a:ext cx="5410047" cy="269748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703320"/>
            <a:ext cx="50800" cy="2697480"/>
          </a:xfrm>
          <a:prstGeom prst="rect">
            <a:avLst/>
          </a:prstGeom>
          <a:solidFill>
            <a:srgbClr val="E39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3794760"/>
            <a:ext cx="5135727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10243E"/>
                </a:solidFill>
                <a:latin typeface="Calibri"/>
              </a:rPr>
              <a:t>Fault Tolerance</a:t>
            </a: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50" b="0" i="0" dirty="0">
                <a:solidFill>
                  <a:srgbClr val="3A424D"/>
                </a:solidFill>
                <a:latin typeface="Calibri"/>
              </a:rPr>
              <a:t>Fetcher is a state machine over 404 (clock not advanced), 503 (outage, exponential backoff), and truncation (bounded retries)</a:t>
            </a: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50" b="0" i="0" dirty="0" err="1">
                <a:solidFill>
                  <a:srgbClr val="3A424D"/>
                </a:solidFill>
                <a:latin typeface="Calibri"/>
              </a:rPr>
              <a:t>Ingestor</a:t>
            </a:r>
            <a:r>
              <a:rPr sz="1150" b="0" i="0" dirty="0">
                <a:solidFill>
                  <a:srgbClr val="3A424D"/>
                </a:solidFill>
                <a:latin typeface="Calibri"/>
              </a:rPr>
              <a:t> tolerates partial </a:t>
            </a:r>
            <a:r>
              <a:rPr sz="1150" b="0" i="0" dirty="0" err="1">
                <a:solidFill>
                  <a:srgbClr val="3A424D"/>
                </a:solidFill>
                <a:latin typeface="Calibri"/>
              </a:rPr>
              <a:t>gzip</a:t>
            </a:r>
            <a:r>
              <a:rPr sz="1150" b="0" i="0" dirty="0">
                <a:solidFill>
                  <a:srgbClr val="3A424D"/>
                </a:solidFill>
                <a:latin typeface="Calibri"/>
              </a:rPr>
              <a:t> streams and malformed JSON lines — logs and continues rather than aborting the file</a:t>
            </a: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50" b="0" i="0" dirty="0">
                <a:solidFill>
                  <a:srgbClr val="3A424D"/>
                </a:solidFill>
                <a:latin typeface="Calibri"/>
              </a:rPr>
              <a:t>Normalizer never raises: unmapped or malformed events fall back to </a:t>
            </a:r>
            <a:r>
              <a:rPr sz="1150" b="0" i="0" dirty="0" err="1">
                <a:solidFill>
                  <a:srgbClr val="3A424D"/>
                </a:solidFill>
                <a:latin typeface="Calibri"/>
              </a:rPr>
              <a:t>UnknownEventNormalizer</a:t>
            </a:r>
            <a:endParaRPr sz="1150" b="0" i="0" dirty="0">
              <a:solidFill>
                <a:srgbClr val="3A424D"/>
              </a:solidFill>
              <a:latin typeface="Calibri"/>
            </a:endParaRP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50" b="0" i="0" dirty="0">
                <a:solidFill>
                  <a:srgbClr val="3A424D"/>
                </a:solidFill>
                <a:latin typeface="Calibri"/>
              </a:rPr>
              <a:t>Every write path is idempotent (ON CONFLICT DO NOTHING), so a crash-and-replay is safe by construction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1325880"/>
            <a:ext cx="5410047" cy="219456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78727" y="1325880"/>
            <a:ext cx="50800" cy="2194560"/>
          </a:xfrm>
          <a:prstGeom prst="rect">
            <a:avLst/>
          </a:prstGeom>
          <a:solidFill>
            <a:srgbClr val="1F9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3319" y="1417320"/>
            <a:ext cx="5135727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10243E"/>
                </a:solidFill>
                <a:latin typeface="Calibri"/>
              </a:rPr>
              <a:t>Scalability Path</a:t>
            </a: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50" b="0" i="0" dirty="0">
                <a:solidFill>
                  <a:srgbClr val="3A424D"/>
                </a:solidFill>
                <a:latin typeface="Calibri"/>
              </a:rPr>
              <a:t>Pipeline process is stateless; all durable progress lives in Redis/Postgres — natural fit for time-partitioned horizontal scaling</a:t>
            </a: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50" b="0" i="0" dirty="0">
                <a:solidFill>
                  <a:srgbClr val="3A424D"/>
                </a:solidFill>
                <a:latin typeface="Calibri"/>
              </a:rPr>
              <a:t>Single-writer COPY is the throughput ceiling at current scale; sharding or a distributed engine is the documented next step beyond 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8727" y="3703320"/>
            <a:ext cx="5410047" cy="269748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78727" y="3703320"/>
            <a:ext cx="50800" cy="2697480"/>
          </a:xfrm>
          <a:prstGeom prst="rect">
            <a:avLst/>
          </a:prstGeom>
          <a:solidFill>
            <a:srgbClr val="E39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3319" y="3794760"/>
            <a:ext cx="5135727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10243E"/>
                </a:solidFill>
                <a:latin typeface="Calibri"/>
              </a:rPr>
              <a:t>Maintainability</a:t>
            </a: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50" b="0" i="0" dirty="0">
                <a:solidFill>
                  <a:srgbClr val="3A424D"/>
                </a:solidFill>
                <a:latin typeface="Calibri"/>
              </a:rPr>
              <a:t>23 test files covering normalizers, watermark persistence, </a:t>
            </a:r>
            <a:r>
              <a:rPr sz="1150" b="0" i="0" dirty="0" err="1">
                <a:solidFill>
                  <a:srgbClr val="3A424D"/>
                </a:solidFill>
                <a:latin typeface="Calibri"/>
              </a:rPr>
              <a:t>ingestor</a:t>
            </a:r>
            <a:r>
              <a:rPr sz="1150" b="0" i="0" dirty="0">
                <a:solidFill>
                  <a:srgbClr val="3A424D"/>
                </a:solidFill>
                <a:latin typeface="Calibri"/>
              </a:rPr>
              <a:t> fault paths, and SQL query contracts</a:t>
            </a: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50" b="0" i="0" dirty="0">
                <a:solidFill>
                  <a:srgbClr val="3A424D"/>
                </a:solidFill>
                <a:latin typeface="Calibri"/>
              </a:rPr>
              <a:t>Clean component boundaries mean each stage is unit-tested in isolation, independent of Postgres/Redis being live</a:t>
            </a:r>
          </a:p>
          <a:p>
            <a:pPr marL="177800" indent="-177800" algn="l">
              <a:lnSpc>
                <a:spcPct val="105000"/>
              </a:lnSpc>
              <a:spcAft>
                <a:spcPts val="300"/>
              </a:spcAft>
              <a:buFont typeface="Calibri"/>
              <a:buChar char="•"/>
            </a:pPr>
            <a:r>
              <a:rPr sz="1150" b="0" i="0" dirty="0">
                <a:solidFill>
                  <a:srgbClr val="3A424D"/>
                </a:solidFill>
                <a:latin typeface="Calibri"/>
              </a:rPr>
              <a:t>Docker Compose health checks and idempotent schema migration keep the stack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9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9EC4"/>
                </a:solidFill>
                <a:latin typeface="Calibri"/>
              </a:rPr>
              <a:t>ARCHITECTURE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Why This Design Holds Up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77295" y="329184"/>
            <a:ext cx="502920" cy="411480"/>
          </a:xfrm>
          <a:prstGeom prst="rect">
            <a:avLst/>
          </a:prstGeom>
          <a:solidFill>
            <a:srgbClr val="163355"/>
          </a:solidFill>
          <a:ln w="12700">
            <a:solidFill>
              <a:srgbClr val="1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6/6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39E"/>
                </a:solidFill>
                <a:latin typeface="Calibri"/>
              </a:rPr>
              <a:t>CRATER  |  GitHub Event Intelligence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410047" cy="146304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50800" cy="1463040"/>
          </a:xfrm>
          <a:prstGeom prst="rect">
            <a:avLst/>
          </a:prstGeom>
          <a:solidFill>
            <a:srgbClr val="1F9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499856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 dirty="0">
                <a:solidFill>
                  <a:srgbClr val="10243E"/>
                </a:solidFill>
                <a:latin typeface="Calibri"/>
              </a:rPr>
              <a:t>Modular by construction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 dirty="0">
                <a:solidFill>
                  <a:srgbClr val="3A424D"/>
                </a:solidFill>
                <a:latin typeface="Calibri"/>
              </a:rPr>
              <a:t>Six single-responsibility pipeline stages and a domain-vs-infrastructure split mean any one part can change without rippling through the rest.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371600"/>
            <a:ext cx="5410047" cy="146304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78727" y="1371600"/>
            <a:ext cx="50800" cy="1463040"/>
          </a:xfrm>
          <a:prstGeom prst="rect">
            <a:avLst/>
          </a:prstGeom>
          <a:solidFill>
            <a:srgbClr val="E39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07327" y="1508760"/>
            <a:ext cx="499856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0243E"/>
                </a:solidFill>
                <a:latin typeface="Calibri"/>
              </a:rPr>
              <a:t>Idempotent and crash-safe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3A424D"/>
                </a:solidFill>
                <a:latin typeface="Calibri"/>
              </a:rPr>
              <a:t>Atomic Redis watermark plus natural-key ON CONFLICT writes make replay-after-failure a non-event rather than an incident.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08960"/>
            <a:ext cx="5410047" cy="146304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3108960"/>
            <a:ext cx="50800" cy="1463040"/>
          </a:xfrm>
          <a:prstGeom prst="rect">
            <a:avLst/>
          </a:prstGeom>
          <a:solidFill>
            <a:srgbClr val="1F9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246120"/>
            <a:ext cx="499856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0243E"/>
                </a:solidFill>
                <a:latin typeface="Calibri"/>
              </a:rPr>
              <a:t>Extensible without surgery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3A424D"/>
                </a:solidFill>
                <a:latin typeface="Calibri"/>
              </a:rPr>
              <a:t>The normalizer registry turns "support a new GitHub event type" into "add one class" — the open/closed principle in practice.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8727" y="3108960"/>
            <a:ext cx="5410047" cy="146304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78727" y="3108960"/>
            <a:ext cx="50800" cy="1463040"/>
          </a:xfrm>
          <a:prstGeom prst="rect">
            <a:avLst/>
          </a:prstGeom>
          <a:solidFill>
            <a:srgbClr val="E39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07327" y="3246120"/>
            <a:ext cx="499856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0243E"/>
                </a:solidFill>
                <a:latin typeface="Calibri"/>
              </a:rPr>
              <a:t>Query performance is designed in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3A424D"/>
                </a:solidFill>
                <a:latin typeface="Calibri"/>
              </a:rPr>
              <a:t>Pre-materialized contribution and funnel tables move cost from query time to write time, where it's cheaper to pay.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074920"/>
            <a:ext cx="11185855" cy="1097280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rIns="25400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0" i="1">
                <a:solidFill>
                  <a:srgbClr val="FFFFFF"/>
                </a:solidFill>
                <a:latin typeface="Calibri"/>
              </a:rPr>
              <a:t>Together, these decisions turn a noisy, failure-prone event feed into a reliable, queryable system — the core discipline of data engineering: get the data in correctly, once, and keep it queryable cheaply.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1216</Words>
  <Application>Microsoft Office PowerPoint</Application>
  <PresentationFormat>Widescreen</PresentationFormat>
  <Paragraphs>131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dorit wasserman</cp:lastModifiedBy>
  <cp:revision>1</cp:revision>
  <dcterms:created xsi:type="dcterms:W3CDTF">2013-01-27T09:14:16Z</dcterms:created>
  <dcterms:modified xsi:type="dcterms:W3CDTF">2026-06-28T20:09:28Z</dcterms:modified>
  <cp:category/>
</cp:coreProperties>
</file>